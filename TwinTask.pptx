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6" r:id="rId11"/>
    <p:sldId id="264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61616"/>
    <a:srgbClr val="F0EAF7"/>
    <a:srgbClr val="3366CC"/>
    <a:srgbClr val="3399FF"/>
    <a:srgbClr val="3AA4FF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33439-502E-4BCC-8CBF-B29871F5091E}" type="datetimeFigureOut">
              <a:rPr lang="ru-RU" smtClean="0"/>
              <a:t>14.01.2026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5491-1116-4554-9302-3460E8FAB6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068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5491-1116-4554-9302-3460E8FAB67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876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</p:spPr>
        <p:txBody>
          <a:bodyPr/>
          <a:lstStyle/>
          <a:p>
            <a:fld id="{37A588E7-8C67-440E-BBD6-1B115FD67716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796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D3FBC6BF-F586-4390-A1CD-5B214B4D82EC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3536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26CFD96A-7CCF-41C7-B2E2-BA532C6E574D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5724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6DD491AD-6368-403F-9D04-6DBBCF8AC9C4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256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5B79B479-D5D3-4EA6-8D55-E82F6FDB3E2D}" type="datetime1">
              <a:rPr lang="ru-RU" smtClean="0"/>
              <a:t>14.01.2026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518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FBE67CAD-6830-464F-B7D1-C7E379C6F5D4}" type="datetime1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030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F6FCDFB0-DC95-467D-B95C-65AD312C8E7C}" type="datetime1">
              <a:rPr lang="ru-RU" smtClean="0"/>
              <a:t>14.01.2026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855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C7860A28-FA29-4D74-94D0-44D90553D7C6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0287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D77B0B74-52D9-49FF-9DF4-0CE4303E6BD0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2743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0682F58A-B1DB-4FCC-B664-B03430348B15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4180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E45DD239-BDEC-40E2-85A4-E72FD11E097B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7197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8825BA85-7524-4673-BEDC-676B2394DB0C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78786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8CCC9269-6062-4605-B0A2-4717303EC149}" type="datetime1">
              <a:rPr lang="ru-RU" smtClean="0"/>
              <a:t>14.01.2026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816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1BA66D19-3163-4959-A643-E58FAE9C4339}" type="datetime1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99007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DD2C553B-69FC-4CF0-8CE9-C2CA5C8B1EC1}" type="datetime1">
              <a:rPr lang="ru-RU" smtClean="0"/>
              <a:t>14.01.2026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022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9E4EF678-D0FE-406C-971A-F63423757B2D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422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/>
          <a:lstStyle/>
          <a:p>
            <a:fld id="{49F55596-0331-4D9C-A5E2-D9841E01D84C}" type="datetime1">
              <a:rPr lang="ru-RU" smtClean="0"/>
              <a:t>14.01.2026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0A4DA9-0428-4BE2-B7B0-FB39C96451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4151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6CCFBCDA-976D-4243-BC04-9B93122DB086}"/>
              </a:ext>
            </a:extLst>
          </p:cNvPr>
          <p:cNvSpPr/>
          <p:nvPr userDrawn="1"/>
        </p:nvSpPr>
        <p:spPr>
          <a:xfrm>
            <a:off x="-624522" y="5385833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287" y="5618957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tx1">
                    <a:tint val="75000"/>
                  </a:schemeClr>
                </a:solidFill>
                <a:latin typeface="Artifakt Element Black" panose="020B0A03050000020004" pitchFamily="34" charset="-52"/>
                <a:ea typeface="Artifakt Element Black" panose="020B0A03050000020004" pitchFamily="34" charset="-52"/>
              </a:defRPr>
            </a:lvl1pPr>
          </a:lstStyle>
          <a:p>
            <a:fld id="{160A4DA9-0428-4BE2-B7B0-FB39C9645171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244347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306275" y="259882"/>
            <a:ext cx="8489483" cy="6189045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2FCDE-B8D3-43C3-9FD8-79AF67CA8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9712" y="557348"/>
            <a:ext cx="8029853" cy="23876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</a:t>
            </a: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высшего образования Заполярный университет им. Н. М. Федоровского</a:t>
            </a: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Система оперативного контроля и управления производственными задачами "Twin Task"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D5B25F9-6929-4F0C-B352-453C8081A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1016" y="4441734"/>
            <a:ext cx="4013733" cy="16557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Ис-24 Саушкин л. Д.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ис-24 Воскобойников д. р.</a:t>
            </a:r>
          </a:p>
          <a:p>
            <a:pPr>
              <a:lnSpc>
                <a:spcPct val="110000"/>
              </a:lnSpc>
            </a:pPr>
            <a:endParaRPr lang="ru-RU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ru-RU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ассистент Костенко Н. В.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A2D4F769-6B2D-4047-BCA6-7ED39F82BEC2}"/>
              </a:ext>
            </a:extLst>
          </p:cNvPr>
          <p:cNvSpPr txBox="1">
            <a:spLocks/>
          </p:cNvSpPr>
          <p:nvPr/>
        </p:nvSpPr>
        <p:spPr>
          <a:xfrm>
            <a:off x="3616692" y="4446222"/>
            <a:ext cx="401373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Выполнили:</a:t>
            </a:r>
          </a:p>
          <a:p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5544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306274" y="171765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latin typeface="quote-cjk-patch"/>
              </a:rPr>
              <a:t>Введение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5FA485-1ACF-4B0F-B281-4C36AF5E7D07}"/>
              </a:ext>
            </a:extLst>
          </p:cNvPr>
          <p:cNvSpPr txBox="1"/>
          <p:nvPr/>
        </p:nvSpPr>
        <p:spPr>
          <a:xfrm>
            <a:off x="3416968" y="171765"/>
            <a:ext cx="686281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u="sng" dirty="0">
                <a:latin typeface="Arial Black" panose="020B0A04020102020204" pitchFamily="34" charset="0"/>
                <a:cs typeface="Arial" panose="020B0604020202020204" pitchFamily="34" charset="0"/>
              </a:rPr>
              <a:t>Проблема</a:t>
            </a:r>
            <a:r>
              <a:rPr lang="ru-RU" b="1" dirty="0">
                <a:latin typeface="Arial Black" panose="020B0A040201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Неэффективная и небезопасная передача производственных задач через бумажные журналы, устные указания и личные мессенджеры. Информация теряется.</a:t>
            </a:r>
          </a:p>
          <a:p>
            <a:endParaRPr lang="ru-RU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b="1" u="sng" dirty="0">
                <a:latin typeface="Arial Black" panose="020B0A04020102020204" pitchFamily="34" charset="0"/>
                <a:cs typeface="Arial" panose="020B0604020202020204" pitchFamily="34" charset="0"/>
              </a:rPr>
              <a:t>Цель:</a:t>
            </a:r>
          </a:p>
          <a:p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Разработать систему оперативного контроля и управления задачами для цифровизации коммуникаций на предприятии.</a:t>
            </a:r>
          </a:p>
          <a:p>
            <a:endParaRPr lang="ru-RU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r>
              <a:rPr lang="ru-RU" b="1" u="sng" dirty="0">
                <a:latin typeface="Arial Black" panose="020B0A04020102020204" pitchFamily="34" charset="0"/>
                <a:cs typeface="Arial" panose="020B0604020202020204" pitchFamily="34" charset="0"/>
              </a:rPr>
              <a:t>Задачи:</a:t>
            </a:r>
          </a:p>
          <a:p>
            <a:endParaRPr lang="ru-RU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Выявить и проанализировать проблемы коммуникации при передаче производственных заданий.</a:t>
            </a:r>
          </a:p>
          <a:p>
            <a:endParaRPr lang="ru-RU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Определить ключевые требования к функционалу и интерфейсу системы.</a:t>
            </a:r>
          </a:p>
          <a:p>
            <a:endParaRPr lang="ru-RU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Arial Black" panose="020B0A04020102020204" pitchFamily="34" charset="0"/>
                <a:cs typeface="Arial" panose="020B0604020202020204" pitchFamily="34" charset="0"/>
              </a:rPr>
              <a:t>Разработать концепцию системы, легко интегрируемую в производственную среду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D69CEF7-DB2F-426A-8838-C316090F2D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281" y="269201"/>
            <a:ext cx="1096975" cy="109697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6E18054-ECA6-4658-888B-08207B441B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9281" y="1960406"/>
            <a:ext cx="1096975" cy="10969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F50D8D6-C805-4603-9B92-CEE38ED2D8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7528" y="3429000"/>
            <a:ext cx="1460480" cy="1460480"/>
          </a:xfrm>
          <a:prstGeom prst="rect">
            <a:avLst/>
          </a:prstGeom>
        </p:spPr>
      </p:pic>
      <p:sp>
        <p:nvSpPr>
          <p:cNvPr id="19" name="Овал 18">
            <a:extLst>
              <a:ext uri="{FF2B5EF4-FFF2-40B4-BE49-F238E27FC236}">
                <a16:creationId xmlns:a16="http://schemas.microsoft.com/office/drawing/2014/main" id="{99FE3528-B27F-4BE2-BF89-530916602000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094560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277399" y="10261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latin typeface="quote-cjk-patch"/>
              </a:rPr>
              <a:t>Потребности</a:t>
            </a:r>
            <a:endParaRPr lang="en-US" b="1" dirty="0">
              <a:latin typeface="quote-cjk-patch"/>
            </a:endParaRPr>
          </a:p>
          <a:p>
            <a:pPr algn="r"/>
            <a:r>
              <a:rPr lang="ru-RU" b="1" dirty="0">
                <a:latin typeface="quote-cjk-patch"/>
              </a:rPr>
              <a:t> рынка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6813B7-E634-4AF4-A689-8DC4D284CC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596" y="3532471"/>
            <a:ext cx="8142972" cy="288758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56CC20-EB3B-4D96-ACFF-43323EDFD1A0}"/>
              </a:ext>
            </a:extLst>
          </p:cNvPr>
          <p:cNvSpPr txBox="1"/>
          <p:nvPr/>
        </p:nvSpPr>
        <p:spPr>
          <a:xfrm>
            <a:off x="3503596" y="333269"/>
            <a:ext cx="36383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Ключевые проблемы: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Не стандартизированные средства обмена информацией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Потери информации между работниками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Риски для безопасности производства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Отсутствие удобной системы контроля задач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Низкая вовлеченность рабочего персонала в информационную инфраструктуру</a:t>
            </a: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7823FA-901D-4868-8AA5-A40D149258F6}"/>
              </a:ext>
            </a:extLst>
          </p:cNvPr>
          <p:cNvSpPr txBox="1"/>
          <p:nvPr/>
        </p:nvSpPr>
        <p:spPr>
          <a:xfrm>
            <a:off x="7575082" y="437949"/>
            <a:ext cx="397874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Требования к системе: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Защищённые корпоративные каналы связи.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Интеграция с существующей системой предприятия (если имеется) Базы данных,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SCADA 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и </a:t>
            </a:r>
            <a:r>
              <a:rPr lang="ru-RU" sz="1600" dirty="0" err="1">
                <a:latin typeface="Arial" panose="020B0604020202020204" pitchFamily="34" charset="0"/>
                <a:cs typeface="Arial" panose="020B0604020202020204" pitchFamily="34" charset="0"/>
              </a:rPr>
              <a:t>тп</a:t>
            </a: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Соответствие стандартам КИИ и ФСТЭК.</a:t>
            </a:r>
          </a:p>
          <a:p>
            <a:pPr marL="285750" indent="-285750">
              <a:buFontTx/>
              <a:buChar char="-"/>
            </a:pPr>
            <a:r>
              <a:rPr lang="ru-RU" sz="1600" dirty="0">
                <a:latin typeface="Arial" panose="020B0604020202020204" pitchFamily="34" charset="0"/>
                <a:cs typeface="Arial" panose="020B0604020202020204" pitchFamily="34" charset="0"/>
              </a:rPr>
              <a:t>Удобный рабочий интерфейс</a:t>
            </a: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Tx/>
              <a:buChar char="-"/>
            </a:pPr>
            <a:endParaRPr lang="ru-RU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8987CE52-76B3-47D0-B2C7-F05F69147D84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56199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277399" y="10261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latin typeface="quote-cjk-patch"/>
              </a:rPr>
              <a:t>Конкурентные </a:t>
            </a:r>
          </a:p>
          <a:p>
            <a:pPr algn="r"/>
            <a:r>
              <a:rPr lang="ru-RU" b="1" dirty="0">
                <a:latin typeface="quote-cjk-patch"/>
              </a:rPr>
              <a:t>решения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386D44-8194-4F43-BDF8-8F4718B04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998" y="3225160"/>
            <a:ext cx="1477836" cy="1477836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2F0A6CD5-DE61-4477-AFF3-387F984B2B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4998" y="231051"/>
            <a:ext cx="1477836" cy="1477836"/>
          </a:xfrm>
          <a:prstGeom prst="rect">
            <a:avLst/>
          </a:prstGeom>
          <a:ln w="12700">
            <a:noFill/>
          </a:ln>
        </p:spPr>
      </p:pic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198947B-21EA-4B73-8C7F-A266E39AEBFD}"/>
              </a:ext>
            </a:extLst>
          </p:cNvPr>
          <p:cNvSpPr/>
          <p:nvPr/>
        </p:nvSpPr>
        <p:spPr>
          <a:xfrm>
            <a:off x="9944998" y="1724019"/>
            <a:ext cx="1477836" cy="147783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>
                <a:solidFill>
                  <a:schemeClr val="bg1"/>
                </a:solidFill>
                <a:effectLst>
                  <a:outerShdw blurRad="50800" dist="38100" sx="101000" sy="101000" algn="l" rotWithShape="0">
                    <a:prstClr val="black">
                      <a:alpha val="40000"/>
                    </a:prstClr>
                  </a:outerShdw>
                </a:effectLst>
              </a:rPr>
              <a:t>КАСУД</a:t>
            </a:r>
            <a:endParaRPr lang="ru-RU" dirty="0">
              <a:solidFill>
                <a:schemeClr val="bg1"/>
              </a:solidFill>
              <a:effectLst>
                <a:outerShdw blurRad="50800" dist="38100" sx="101000" sy="1010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278DBFE-D0BC-473F-8614-C67D393D64D6}"/>
              </a:ext>
            </a:extLst>
          </p:cNvPr>
          <p:cNvSpPr/>
          <p:nvPr/>
        </p:nvSpPr>
        <p:spPr>
          <a:xfrm>
            <a:off x="9944998" y="4726302"/>
            <a:ext cx="1477836" cy="1477835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n>
                  <a:solidFill>
                    <a:srgbClr val="3399FF"/>
                  </a:solidFill>
                </a:ln>
                <a:solidFill>
                  <a:srgbClr val="0070C0"/>
                </a:solidFill>
                <a:effectLst>
                  <a:outerShdw blurRad="50800" dist="38100" sx="101000" sy="101000" algn="l" rotWithShape="0">
                    <a:prstClr val="black">
                      <a:alpha val="40000"/>
                    </a:prstClr>
                  </a:outerShdw>
                </a:effectLst>
              </a:rPr>
              <a:t>AggreGate</a:t>
            </a:r>
            <a:endParaRPr lang="ru-RU" dirty="0">
              <a:ln>
                <a:solidFill>
                  <a:srgbClr val="3399FF"/>
                </a:solidFill>
              </a:ln>
              <a:solidFill>
                <a:srgbClr val="0070C0"/>
              </a:solidFill>
              <a:effectLst>
                <a:outerShdw blurRad="50800" dist="38100" sx="101000" sy="1010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99737D6-F601-4634-909E-3A1BAB089246}"/>
              </a:ext>
            </a:extLst>
          </p:cNvPr>
          <p:cNvSpPr/>
          <p:nvPr/>
        </p:nvSpPr>
        <p:spPr>
          <a:xfrm>
            <a:off x="3497576" y="231051"/>
            <a:ext cx="3007999" cy="1477836"/>
          </a:xfrm>
          <a:prstGeom prst="rect">
            <a:avLst/>
          </a:prstGeom>
          <a:solidFill>
            <a:srgbClr val="00B05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+ </a:t>
            </a:r>
            <a:r>
              <a:rPr lang="ru-RU" sz="1400" dirty="0"/>
              <a:t>Понятный интерфейс</a:t>
            </a:r>
          </a:p>
          <a:p>
            <a:r>
              <a:rPr lang="ru-RU" sz="1400" dirty="0"/>
              <a:t>+ Полная модульность системы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7A859D0-1E90-43DA-A76F-59D2CFCF686D}"/>
              </a:ext>
            </a:extLst>
          </p:cNvPr>
          <p:cNvSpPr/>
          <p:nvPr/>
        </p:nvSpPr>
        <p:spPr>
          <a:xfrm>
            <a:off x="6721287" y="231051"/>
            <a:ext cx="3007999" cy="1477836"/>
          </a:xfrm>
          <a:prstGeom prst="rect">
            <a:avLst/>
          </a:prstGeom>
          <a:solidFill>
            <a:srgbClr val="FF000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/>
              <a:t>Предназначена только для руководителей 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Небезопасна данные хранятся на внешнем сервере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Периодическая плата за использование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763F2F3E-6008-4683-9FEB-B30A747DD655}"/>
              </a:ext>
            </a:extLst>
          </p:cNvPr>
          <p:cNvSpPr/>
          <p:nvPr/>
        </p:nvSpPr>
        <p:spPr>
          <a:xfrm>
            <a:off x="3495344" y="1728630"/>
            <a:ext cx="3007999" cy="1477836"/>
          </a:xfrm>
          <a:prstGeom prst="rect">
            <a:avLst/>
          </a:prstGeom>
          <a:solidFill>
            <a:srgbClr val="00B05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/>
              <a:t>+ Полностью закрытая система предприятия</a:t>
            </a:r>
          </a:p>
          <a:p>
            <a:r>
              <a:rPr lang="ru-RU" sz="1400" dirty="0"/>
              <a:t>+ Отсутствие платы за использование (внутренняя разработка)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CE91A7DA-B2BC-4529-8E36-97ABC954C3A2}"/>
              </a:ext>
            </a:extLst>
          </p:cNvPr>
          <p:cNvSpPr/>
          <p:nvPr/>
        </p:nvSpPr>
        <p:spPr>
          <a:xfrm>
            <a:off x="6719055" y="1728630"/>
            <a:ext cx="3007999" cy="1477836"/>
          </a:xfrm>
          <a:prstGeom prst="rect">
            <a:avLst/>
          </a:prstGeom>
          <a:solidFill>
            <a:srgbClr val="FF000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/>
              <a:t>Устаревший интерфейс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Не связан с другими подсистемами предприятия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Не предназначен для удобной коммуникации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F61E0BC2-7C14-4BF3-A6C5-DBDE93A809EB}"/>
              </a:ext>
            </a:extLst>
          </p:cNvPr>
          <p:cNvSpPr/>
          <p:nvPr/>
        </p:nvSpPr>
        <p:spPr>
          <a:xfrm>
            <a:off x="3495344" y="3225160"/>
            <a:ext cx="3007999" cy="1477836"/>
          </a:xfrm>
          <a:prstGeom prst="rect">
            <a:avLst/>
          </a:prstGeom>
          <a:solidFill>
            <a:srgbClr val="00B05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/>
              <a:t>+ Является полностью закрытой системой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3FCF414-2DEF-4589-A467-19343F52422E}"/>
              </a:ext>
            </a:extLst>
          </p:cNvPr>
          <p:cNvSpPr/>
          <p:nvPr/>
        </p:nvSpPr>
        <p:spPr>
          <a:xfrm>
            <a:off x="6719055" y="3225160"/>
            <a:ext cx="3007999" cy="1477836"/>
          </a:xfrm>
          <a:prstGeom prst="rect">
            <a:avLst/>
          </a:prstGeom>
          <a:solidFill>
            <a:srgbClr val="FF000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/>
              <a:t>Устаревший интерфейс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Закрыт для внедрения подсистем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Не предназначен для коммуникации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Плата за использование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E7EB4281-3010-41AA-A344-611E45451495}"/>
              </a:ext>
            </a:extLst>
          </p:cNvPr>
          <p:cNvSpPr/>
          <p:nvPr/>
        </p:nvSpPr>
        <p:spPr>
          <a:xfrm>
            <a:off x="3495344" y="4721690"/>
            <a:ext cx="3007999" cy="1477836"/>
          </a:xfrm>
          <a:prstGeom prst="rect">
            <a:avLst/>
          </a:prstGeom>
          <a:solidFill>
            <a:srgbClr val="00B05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sz="1400" dirty="0"/>
              <a:t>+ Система полностью адаптирована под внедрения сторонних систем и обмена данными с ними</a:t>
            </a:r>
          </a:p>
          <a:p>
            <a:r>
              <a:rPr lang="ru-RU" sz="1400" dirty="0"/>
              <a:t>+ Все данные хранятся строго в инфо. контуре предприятия</a:t>
            </a: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D5D1D46A-4D5C-4EF3-9B2C-40F53BC58BDF}"/>
              </a:ext>
            </a:extLst>
          </p:cNvPr>
          <p:cNvSpPr/>
          <p:nvPr/>
        </p:nvSpPr>
        <p:spPr>
          <a:xfrm>
            <a:off x="6719055" y="4721690"/>
            <a:ext cx="3007999" cy="1477836"/>
          </a:xfrm>
          <a:prstGeom prst="rect">
            <a:avLst/>
          </a:prstGeom>
          <a:solidFill>
            <a:srgbClr val="FF000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Tx/>
              <a:buChar char="-"/>
            </a:pPr>
            <a:r>
              <a:rPr lang="ru-RU" sz="1400" dirty="0"/>
              <a:t>Сложный интерфейс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Не предназначен для коммуникации</a:t>
            </a:r>
          </a:p>
          <a:p>
            <a:pPr marL="285750" indent="-285750">
              <a:buFontTx/>
              <a:buChar char="-"/>
            </a:pPr>
            <a:r>
              <a:rPr lang="ru-RU" sz="1400" dirty="0"/>
              <a:t>Плата за использование</a:t>
            </a:r>
          </a:p>
        </p:txBody>
      </p:sp>
      <p:sp>
        <p:nvSpPr>
          <p:cNvPr id="40" name="Овал 39">
            <a:extLst>
              <a:ext uri="{FF2B5EF4-FFF2-40B4-BE49-F238E27FC236}">
                <a16:creationId xmlns:a16="http://schemas.microsoft.com/office/drawing/2014/main" id="{C610D7F5-63BA-4E87-BFCF-138E98FAA98D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30331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277399" y="10261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Рабочий план </a:t>
            </a:r>
          </a:p>
          <a:p>
            <a:pPr algn="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проекта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E0A0B3-1917-4476-9144-EF18F83F089B}"/>
              </a:ext>
            </a:extLst>
          </p:cNvPr>
          <p:cNvSpPr txBox="1"/>
          <p:nvPr/>
        </p:nvSpPr>
        <p:spPr>
          <a:xfrm>
            <a:off x="3673708" y="268232"/>
            <a:ext cx="3638349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Управление задачами – (Создание, назначение, отслеживание)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Оперативная коммуникация – (встроенный мессенджер для задач)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Интеграция данных – (синхронизация с существующий системой предприятия)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Оповещения и </a:t>
            </a:r>
            <a:r>
              <a:rPr lang="ru-RU" sz="1600" dirty="0" err="1">
                <a:latin typeface="Arial Black" panose="020B0A04020102020204" pitchFamily="34" charset="0"/>
                <a:cs typeface="Arial" panose="020B0604020202020204" pitchFamily="34" charset="0"/>
              </a:rPr>
              <a:t>дашборды</a:t>
            </a: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 – уведомления и </a:t>
            </a:r>
            <a:r>
              <a:rPr lang="en-US" sz="1600" dirty="0">
                <a:latin typeface="Arial Black" panose="020B0A04020102020204" pitchFamily="34" charset="0"/>
                <a:cs typeface="Arial" panose="020B0604020202020204" pitchFamily="34" charset="0"/>
              </a:rPr>
              <a:t>Kanban-</a:t>
            </a: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доска для руководителей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r>
              <a:rPr lang="ru-RU" sz="1600" dirty="0">
                <a:latin typeface="Arial Black" panose="020B0A04020102020204" pitchFamily="34" charset="0"/>
                <a:cs typeface="Arial" panose="020B0604020202020204" pitchFamily="34" charset="0"/>
              </a:rPr>
              <a:t>Безопасность и надежность – (строго локальный доступ, аудит, шифрование)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pPr marL="285750" indent="-285750">
              <a:spcAft>
                <a:spcPts val="600"/>
              </a:spcAft>
              <a:buFontTx/>
              <a:buChar char="-"/>
            </a:pPr>
            <a:endParaRPr lang="ru-RU" sz="16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FE27D39-37C9-45BC-9284-3922414AC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62" y="163938"/>
            <a:ext cx="810914" cy="81091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A05467-24C5-43C2-A842-9CBFB1E1F1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61" y="5492060"/>
            <a:ext cx="810914" cy="81091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5158631F-FBBC-4A2E-BFEF-12F8958664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549" y="4333875"/>
            <a:ext cx="636941" cy="6369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FBD5CD5-3CCE-4254-9788-02F9C3EA5A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61" y="4159901"/>
            <a:ext cx="810915" cy="810915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B4B057D-20C8-4603-B77A-FD3266B94F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61" y="2827742"/>
            <a:ext cx="810915" cy="810915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22FE146-1C17-4EEC-9E7A-0DEA867F3F2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2561" y="1469627"/>
            <a:ext cx="810915" cy="810915"/>
          </a:xfrm>
          <a:prstGeom prst="rect">
            <a:avLst/>
          </a:prstGeom>
        </p:spPr>
      </p:pic>
      <p:sp>
        <p:nvSpPr>
          <p:cNvPr id="38" name="Овал 37">
            <a:extLst>
              <a:ext uri="{FF2B5EF4-FFF2-40B4-BE49-F238E27FC236}">
                <a16:creationId xmlns:a16="http://schemas.microsoft.com/office/drawing/2014/main" id="{A2C2DD92-0DB5-4DE6-874A-351D67654F7D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565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277399" y="10261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latin typeface="quote-cjk-patch"/>
              </a:rPr>
              <a:t>Поиск Технологий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1BE7E478-B0BA-4A36-A18A-AB1C917C9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497671"/>
              </p:ext>
            </p:extLst>
          </p:nvPr>
        </p:nvGraphicFramePr>
        <p:xfrm>
          <a:off x="3458140" y="265517"/>
          <a:ext cx="8127999" cy="6008839"/>
        </p:xfrm>
        <a:graphic>
          <a:graphicData uri="http://schemas.openxmlformats.org/drawingml/2006/table">
            <a:tbl>
              <a:tblPr bandRow="1">
                <a:solidFill>
                  <a:schemeClr val="bg1"/>
                </a:solidFill>
                <a:tableStyleId>{F5AB1C69-6EDB-4FF4-983F-18BD219EF322}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402828613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38444030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19300278"/>
                    </a:ext>
                  </a:extLst>
                </a:gridCol>
              </a:tblGrid>
              <a:tr h="1030958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Серверная платформа и среда выполнения</a:t>
                      </a:r>
                    </a:p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(Бэкенд)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Go (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</a:rPr>
                        <a:t>фреймворк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Gin)</a:t>
                      </a:r>
                      <a:endParaRPr lang="ru-RU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8391831"/>
                  </a:ext>
                </a:extLst>
              </a:tr>
              <a:tr h="1030958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Клиентские приложения (</a:t>
                      </a:r>
                      <a:r>
                        <a:rPr lang="ru-RU" b="1" dirty="0" err="1">
                          <a:solidFill>
                            <a:schemeClr val="bg1"/>
                          </a:solidFill>
                        </a:rPr>
                        <a:t>Фронтенд</a:t>
                      </a: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Kotlin (Android) / Swift (IOS)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Vue.js c TypeScript</a:t>
                      </a:r>
                      <a:endParaRPr lang="ru-RU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9866496"/>
                  </a:ext>
                </a:extLst>
              </a:tr>
              <a:tr h="103095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Система управления базами данных (СУБД)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PostgreSQL</a:t>
                      </a:r>
                      <a:endParaRPr lang="ru-RU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268825"/>
                  </a:ext>
                </a:extLst>
              </a:tr>
              <a:tr h="1509473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Коммуникация - синхронизация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ru-RU" sz="1600" b="0" dirty="0">
                          <a:solidFill>
                            <a:schemeClr val="bg1"/>
                          </a:solidFill>
                        </a:rPr>
                        <a:t>Протокол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WebSocket (gorilla/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websocket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</a:rPr>
                        <a:t>для 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Go)</a:t>
                      </a: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SQLite (</a:t>
                      </a:r>
                      <a:r>
                        <a:rPr lang="ru-RU" sz="1600" b="0" dirty="0">
                          <a:solidFill>
                            <a:schemeClr val="bg1"/>
                          </a:solidFill>
                        </a:rPr>
                        <a:t>с шифрованием </a:t>
                      </a: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SQLCipher</a:t>
                      </a: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  <a:p>
                      <a:pPr algn="l"/>
                      <a:endParaRPr lang="ru-RU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491958"/>
                  </a:ext>
                </a:extLst>
              </a:tr>
              <a:tr h="1361485">
                <a:tc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bg1"/>
                          </a:solidFill>
                        </a:rPr>
                        <a:t>Инфраструктура, безопасность, интеграция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ru-RU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OpenID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 Connect (OIDC) / </a:t>
                      </a:r>
                      <a:r>
                        <a:rPr lang="ru-RU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OAuth</a:t>
                      </a:r>
                      <a:r>
                        <a:rPr lang="ru-RU" sz="1800" b="0" kern="1200" dirty="0">
                          <a:solidFill>
                            <a:schemeClr val="dk1"/>
                          </a:solidFill>
                          <a:effectLst/>
                        </a:rPr>
                        <a:t> 2.0 с </a:t>
                      </a:r>
                      <a:r>
                        <a:rPr lang="ru-RU" sz="1800" b="0" kern="1200" dirty="0" err="1">
                          <a:solidFill>
                            <a:schemeClr val="dk1"/>
                          </a:solidFill>
                          <a:effectLst/>
                        </a:rPr>
                        <a:t>Keycloak</a:t>
                      </a:r>
                      <a:endParaRPr lang="ru-RU" sz="1800" b="0" kern="120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 err="1">
                          <a:solidFill>
                            <a:schemeClr val="bg1"/>
                          </a:solidFill>
                        </a:rPr>
                        <a:t>MiniO</a:t>
                      </a:r>
                      <a:endParaRPr lang="en-US" sz="1600" b="0" dirty="0">
                        <a:solidFill>
                          <a:schemeClr val="bg1"/>
                        </a:solidFill>
                      </a:endParaRPr>
                    </a:p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>
                          <a:solidFill>
                            <a:schemeClr val="bg1"/>
                          </a:solidFill>
                        </a:rPr>
                        <a:t>Docker</a:t>
                      </a:r>
                      <a:endParaRPr lang="ru-RU" sz="1600" b="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ru-RU" sz="16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106528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CDA70E-79A6-49F3-8022-BABD87D81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3759" y="516879"/>
            <a:ext cx="900818" cy="601618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764BFC77-7588-4B70-941E-D7D13AD19D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312" y="1498382"/>
            <a:ext cx="826392" cy="550928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20CFA85-0271-4977-9E10-A277A85B7B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704" y="1498382"/>
            <a:ext cx="550928" cy="5509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F7C48DC-3260-4E13-B245-C66CE235D7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311" y="452393"/>
            <a:ext cx="826393" cy="73059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7B105B8D-FEB2-4590-A999-F100A23138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577" y="1551722"/>
            <a:ext cx="550929" cy="550929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453E21C-5D94-4728-9821-5E57DF9CA38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2312" y="2429195"/>
            <a:ext cx="826392" cy="826392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00FBE1C1-C47E-4B33-9010-91F23032E506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19" b="12736"/>
          <a:stretch/>
        </p:blipFill>
        <p:spPr>
          <a:xfrm>
            <a:off x="9043922" y="3938579"/>
            <a:ext cx="623170" cy="550928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1749D157-357D-4602-A00C-C8000735BF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2582" y="3865966"/>
            <a:ext cx="623171" cy="696154"/>
          </a:xfrm>
          <a:prstGeom prst="rect">
            <a:avLst/>
          </a:prstGeom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009CA324-70E4-4451-B344-5AD4188DD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4576" y="3938579"/>
            <a:ext cx="550930" cy="550930"/>
          </a:xfrm>
          <a:prstGeom prst="rect">
            <a:avLst/>
          </a:prstGeom>
        </p:spPr>
      </p:pic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991CA7F8-2DCF-49C8-B4C7-035616057D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348" y="4964759"/>
            <a:ext cx="1182821" cy="560705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346DA99-F657-4D81-9262-68B70A4192B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5226" y="4964759"/>
            <a:ext cx="900818" cy="600546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A9AFF81-34B0-4143-A910-E6C20BE13A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174" y="5624481"/>
            <a:ext cx="623170" cy="623170"/>
          </a:xfrm>
          <a:prstGeom prst="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C83B27A0-5EDA-41E4-B126-D89D85E1B9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8087" y="5628431"/>
            <a:ext cx="815096" cy="601618"/>
          </a:xfrm>
          <a:prstGeom prst="rect">
            <a:avLst/>
          </a:prstGeom>
        </p:spPr>
      </p:pic>
      <p:sp>
        <p:nvSpPr>
          <p:cNvPr id="41" name="Овал 40">
            <a:extLst>
              <a:ext uri="{FF2B5EF4-FFF2-40B4-BE49-F238E27FC236}">
                <a16:creationId xmlns:a16="http://schemas.microsoft.com/office/drawing/2014/main" id="{A7583A96-FDD7-48E0-AA4E-7AB6797F147A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6473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latin typeface="quote-cjk-patch"/>
              </a:rPr>
              <a:t>Схема Технологий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41" name="Овал 40">
            <a:extLst>
              <a:ext uri="{FF2B5EF4-FFF2-40B4-BE49-F238E27FC236}">
                <a16:creationId xmlns:a16="http://schemas.microsoft.com/office/drawing/2014/main" id="{A7583A96-FDD7-48E0-AA4E-7AB6797F147A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362DFC7-31F4-45FA-B28C-B1227CFFABF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660"/>
          <a:stretch/>
        </p:blipFill>
        <p:spPr>
          <a:xfrm>
            <a:off x="3003079" y="334477"/>
            <a:ext cx="9188921" cy="6189045"/>
          </a:xfrm>
          <a:prstGeom prst="rect">
            <a:avLst/>
          </a:prstGeom>
          <a:effectLst>
            <a:glow rad="12700">
              <a:schemeClr val="accent5">
                <a:satMod val="175000"/>
                <a:alpha val="40000"/>
              </a:schemeClr>
            </a:glow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5750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337852" y="85266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77" name="Прямоугольник 76">
            <a:extLst>
              <a:ext uri="{FF2B5EF4-FFF2-40B4-BE49-F238E27FC236}">
                <a16:creationId xmlns:a16="http://schemas.microsoft.com/office/drawing/2014/main" id="{CC0055B2-EDCB-4734-A7ED-6FB7B6F50BB1}"/>
              </a:ext>
            </a:extLst>
          </p:cNvPr>
          <p:cNvSpPr/>
          <p:nvPr/>
        </p:nvSpPr>
        <p:spPr>
          <a:xfrm>
            <a:off x="5769830" y="3578341"/>
            <a:ext cx="5774470" cy="2812933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latin typeface="quote-cjk-patch"/>
              </a:rPr>
              <a:t>Схема Коммерциализации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586BF1B-FE5A-43DD-A415-C1B8729F8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153" y="4882746"/>
            <a:ext cx="3028084" cy="1703297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5C76793-DAE1-47FD-A616-E2EE0DCEE40F}"/>
              </a:ext>
            </a:extLst>
          </p:cNvPr>
          <p:cNvSpPr/>
          <p:nvPr/>
        </p:nvSpPr>
        <p:spPr>
          <a:xfrm>
            <a:off x="3646625" y="2184343"/>
            <a:ext cx="1837519" cy="969703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latin typeface="quote-cjk-patch"/>
              </a:rPr>
              <a:t>Этап 1</a:t>
            </a:r>
          </a:p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Первичное внедрение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185D40AC-DDD0-4B47-912A-109265F2F017}"/>
              </a:ext>
            </a:extLst>
          </p:cNvPr>
          <p:cNvSpPr/>
          <p:nvPr/>
        </p:nvSpPr>
        <p:spPr>
          <a:xfrm>
            <a:off x="3646625" y="308742"/>
            <a:ext cx="1837519" cy="1501960"/>
          </a:xfrm>
          <a:prstGeom prst="rect">
            <a:avLst/>
          </a:prstGeom>
          <a:solidFill>
            <a:schemeClr val="accent5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latin typeface="quote-cjk-patch"/>
              </a:rPr>
              <a:t>Коммерческая модель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F56511DE-5942-4056-B3CE-BF3736D1D16A}"/>
              </a:ext>
            </a:extLst>
          </p:cNvPr>
          <p:cNvSpPr/>
          <p:nvPr/>
        </p:nvSpPr>
        <p:spPr>
          <a:xfrm>
            <a:off x="5792917" y="140132"/>
            <a:ext cx="5751383" cy="1840668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400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35CE9CCD-7CD5-47D5-AD7F-E86D969591C6}"/>
              </a:ext>
            </a:extLst>
          </p:cNvPr>
          <p:cNvSpPr/>
          <p:nvPr/>
        </p:nvSpPr>
        <p:spPr>
          <a:xfrm>
            <a:off x="5989977" y="294051"/>
            <a:ext cx="2544421" cy="7447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Бессрочная</a:t>
            </a:r>
            <a:endParaRPr lang="ru-RU" sz="1400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DDF3902-09AE-48AA-A46D-C651FEB8EF0A}"/>
              </a:ext>
            </a:extLst>
          </p:cNvPr>
          <p:cNvSpPr/>
          <p:nvPr/>
        </p:nvSpPr>
        <p:spPr>
          <a:xfrm>
            <a:off x="8534400" y="289914"/>
            <a:ext cx="2916707" cy="7408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Не эксклюзивная</a:t>
            </a:r>
            <a:endParaRPr lang="ru-RU" sz="1400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38323999-1296-4053-8579-3C07352B3699}"/>
              </a:ext>
            </a:extLst>
          </p:cNvPr>
          <p:cNvSpPr/>
          <p:nvPr/>
        </p:nvSpPr>
        <p:spPr>
          <a:xfrm>
            <a:off x="5989978" y="1036176"/>
            <a:ext cx="2544420" cy="77103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bg1"/>
                </a:solidFill>
                <a:effectLst/>
                <a:latin typeface="quote-cjk-patch"/>
              </a:rPr>
              <a:t>Доступ </a:t>
            </a:r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к исходному коду</a:t>
            </a:r>
            <a:endParaRPr lang="ru-RU" sz="1400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075EE4C-19B0-4CEA-B59F-3C7E0770B2E1}"/>
              </a:ext>
            </a:extLst>
          </p:cNvPr>
          <p:cNvSpPr/>
          <p:nvPr/>
        </p:nvSpPr>
        <p:spPr>
          <a:xfrm>
            <a:off x="8534399" y="1038826"/>
            <a:ext cx="2916707" cy="7832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b="1" dirty="0">
                <a:solidFill>
                  <a:schemeClr val="bg1"/>
                </a:solidFill>
                <a:effectLst/>
                <a:latin typeface="quote-cjk-patch"/>
              </a:rPr>
              <a:t>С долгосрочным партнёрством в разработке</a:t>
            </a:r>
          </a:p>
        </p:txBody>
      </p: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59003834-01D0-4683-BF10-B731E4D65881}"/>
              </a:ext>
            </a:extLst>
          </p:cNvPr>
          <p:cNvCxnSpPr>
            <a:cxnSpLocks/>
            <a:stCxn id="16" idx="3"/>
            <a:endCxn id="37" idx="1"/>
          </p:cNvCxnSpPr>
          <p:nvPr/>
        </p:nvCxnSpPr>
        <p:spPr>
          <a:xfrm>
            <a:off x="5484144" y="1059722"/>
            <a:ext cx="308773" cy="7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Прямая со стрелкой 50">
            <a:extLst>
              <a:ext uri="{FF2B5EF4-FFF2-40B4-BE49-F238E27FC236}">
                <a16:creationId xmlns:a16="http://schemas.microsoft.com/office/drawing/2014/main" id="{49B7BDBC-FD3E-42FF-9812-0A5F044471AE}"/>
              </a:ext>
            </a:extLst>
          </p:cNvPr>
          <p:cNvCxnSpPr>
            <a:cxnSpLocks/>
            <a:stCxn id="14" idx="3"/>
            <a:endCxn id="54" idx="1"/>
          </p:cNvCxnSpPr>
          <p:nvPr/>
        </p:nvCxnSpPr>
        <p:spPr>
          <a:xfrm flipV="1">
            <a:off x="5484144" y="2669194"/>
            <a:ext cx="2856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Прямоугольник 53">
            <a:extLst>
              <a:ext uri="{FF2B5EF4-FFF2-40B4-BE49-F238E27FC236}">
                <a16:creationId xmlns:a16="http://schemas.microsoft.com/office/drawing/2014/main" id="{37BF31D4-FD2F-4E81-AF01-63F1F5B03895}"/>
              </a:ext>
            </a:extLst>
          </p:cNvPr>
          <p:cNvSpPr/>
          <p:nvPr/>
        </p:nvSpPr>
        <p:spPr>
          <a:xfrm>
            <a:off x="5769830" y="2184342"/>
            <a:ext cx="1934573" cy="969703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latin typeface="quote-cjk-patch"/>
              </a:rPr>
              <a:t>Контракт на создание и внедрение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C1A57934-5AB9-4BCE-BE31-842C2F29DC06}"/>
              </a:ext>
            </a:extLst>
          </p:cNvPr>
          <p:cNvSpPr/>
          <p:nvPr/>
        </p:nvSpPr>
        <p:spPr>
          <a:xfrm>
            <a:off x="7704403" y="2184342"/>
            <a:ext cx="1564725" cy="969703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Поэтапная разработка и оплата</a:t>
            </a:r>
          </a:p>
        </p:txBody>
      </p:sp>
      <p:sp>
        <p:nvSpPr>
          <p:cNvPr id="66" name="Прямоугольник 65">
            <a:extLst>
              <a:ext uri="{FF2B5EF4-FFF2-40B4-BE49-F238E27FC236}">
                <a16:creationId xmlns:a16="http://schemas.microsoft.com/office/drawing/2014/main" id="{0331B253-B17E-4F58-B1CF-EB31D585FA27}"/>
              </a:ext>
            </a:extLst>
          </p:cNvPr>
          <p:cNvSpPr/>
          <p:nvPr/>
        </p:nvSpPr>
        <p:spPr>
          <a:xfrm>
            <a:off x="9269128" y="2184342"/>
            <a:ext cx="2275172" cy="969703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Передача прав на использование исходного кода</a:t>
            </a:r>
          </a:p>
        </p:txBody>
      </p:sp>
      <p:sp>
        <p:nvSpPr>
          <p:cNvPr id="67" name="Прямоугольник 66">
            <a:extLst>
              <a:ext uri="{FF2B5EF4-FFF2-40B4-BE49-F238E27FC236}">
                <a16:creationId xmlns:a16="http://schemas.microsoft.com/office/drawing/2014/main" id="{CB921A77-FD04-4E47-A384-47A81B0A0AD2}"/>
              </a:ext>
            </a:extLst>
          </p:cNvPr>
          <p:cNvSpPr/>
          <p:nvPr/>
        </p:nvSpPr>
        <p:spPr>
          <a:xfrm>
            <a:off x="3635082" y="4499955"/>
            <a:ext cx="1837519" cy="969703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>
                <a:solidFill>
                  <a:srgbClr val="F9FAFB"/>
                </a:solidFill>
                <a:latin typeface="quote-cjk-patch"/>
              </a:rPr>
              <a:t>Этап 2</a:t>
            </a:r>
          </a:p>
          <a:p>
            <a:pPr algn="ctr"/>
            <a:r>
              <a:rPr lang="ru-RU" b="1" dirty="0">
                <a:solidFill>
                  <a:srgbClr val="F9FAFB"/>
                </a:solidFill>
                <a:effectLst/>
                <a:latin typeface="quote-cjk-patch"/>
              </a:rPr>
              <a:t>Долгосрочное партнерство</a:t>
            </a:r>
          </a:p>
        </p:txBody>
      </p:sp>
      <p:sp>
        <p:nvSpPr>
          <p:cNvPr id="70" name="Прямоугольник 69">
            <a:extLst>
              <a:ext uri="{FF2B5EF4-FFF2-40B4-BE49-F238E27FC236}">
                <a16:creationId xmlns:a16="http://schemas.microsoft.com/office/drawing/2014/main" id="{9271744C-49FB-40BA-A318-94A687890B12}"/>
              </a:ext>
            </a:extLst>
          </p:cNvPr>
          <p:cNvSpPr/>
          <p:nvPr/>
        </p:nvSpPr>
        <p:spPr>
          <a:xfrm>
            <a:off x="5903378" y="3694914"/>
            <a:ext cx="2631022" cy="1187832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80000" rIns="90000" rtlCol="0" anchor="ctr"/>
          <a:lstStyle/>
          <a:p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Годовое сервисное соглашение </a:t>
            </a:r>
            <a:r>
              <a:rPr lang="en-US" sz="1400" b="1" dirty="0">
                <a:solidFill>
                  <a:srgbClr val="F9FAFB"/>
                </a:solidFill>
                <a:latin typeface="quote-cjk-patch"/>
              </a:rPr>
              <a:t>SLA</a:t>
            </a:r>
            <a:endParaRPr lang="ru-RU" sz="1400" b="1" dirty="0">
              <a:solidFill>
                <a:srgbClr val="F9FAFB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Поддержка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Обновления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Мелкие улучшения</a:t>
            </a:r>
            <a:endParaRPr lang="en-US" sz="1400" b="1" dirty="0">
              <a:solidFill>
                <a:srgbClr val="F9FAFB"/>
              </a:solidFill>
              <a:latin typeface="quote-cjk-patch"/>
            </a:endParaRPr>
          </a:p>
          <a:p>
            <a:endParaRPr lang="ru-RU" sz="14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8" name="Прямоугольник 77">
            <a:extLst>
              <a:ext uri="{FF2B5EF4-FFF2-40B4-BE49-F238E27FC236}">
                <a16:creationId xmlns:a16="http://schemas.microsoft.com/office/drawing/2014/main" id="{EB058FD2-1C46-425D-9F11-AF1C8A1967B9}"/>
              </a:ext>
            </a:extLst>
          </p:cNvPr>
          <p:cNvSpPr/>
          <p:nvPr/>
        </p:nvSpPr>
        <p:spPr>
          <a:xfrm>
            <a:off x="5903378" y="4999318"/>
            <a:ext cx="2631022" cy="1274481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80000" rIns="90000" rtlCol="0" anchor="ctr"/>
          <a:lstStyle/>
          <a:p>
            <a:r>
              <a:rPr lang="ru-RU" sz="1400" b="1" dirty="0">
                <a:solidFill>
                  <a:srgbClr val="F9FAFB"/>
                </a:solidFill>
                <a:effectLst/>
                <a:latin typeface="quote-cjk-patch"/>
              </a:rPr>
              <a:t>Отдельные контракты на развитие: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Модули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effectLst/>
                <a:latin typeface="quote-cjk-patch"/>
              </a:rPr>
              <a:t>Интеграции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dirty="0">
                <a:solidFill>
                  <a:srgbClr val="F9FAFB"/>
                </a:solidFill>
                <a:latin typeface="quote-cjk-patch"/>
              </a:rPr>
              <a:t>Масштабирование и </a:t>
            </a:r>
            <a:r>
              <a:rPr lang="ru-RU" sz="1400" b="1" dirty="0" err="1">
                <a:solidFill>
                  <a:srgbClr val="F9FAFB"/>
                </a:solidFill>
                <a:latin typeface="quote-cjk-patch"/>
              </a:rPr>
              <a:t>тп</a:t>
            </a:r>
            <a:endParaRPr lang="ru-RU" sz="14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79" name="Прямоугольник 78">
            <a:extLst>
              <a:ext uri="{FF2B5EF4-FFF2-40B4-BE49-F238E27FC236}">
                <a16:creationId xmlns:a16="http://schemas.microsoft.com/office/drawing/2014/main" id="{0F98AF49-098D-4760-810F-D4AE1E66CC33}"/>
              </a:ext>
            </a:extLst>
          </p:cNvPr>
          <p:cNvSpPr/>
          <p:nvPr/>
        </p:nvSpPr>
        <p:spPr>
          <a:xfrm>
            <a:off x="9174480" y="4288830"/>
            <a:ext cx="2276628" cy="1274481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80000" rIns="90000" rtlCol="0" anchor="ctr"/>
          <a:lstStyle/>
          <a:p>
            <a:pPr algn="ctr"/>
            <a:r>
              <a:rPr lang="ru-RU" sz="1400" b="1" dirty="0">
                <a:solidFill>
                  <a:srgbClr val="F9FAFB"/>
                </a:solidFill>
                <a:effectLst/>
                <a:latin typeface="quote-cjk-patch"/>
              </a:rPr>
              <a:t>Цикл развития и партнерства</a:t>
            </a:r>
          </a:p>
        </p:txBody>
      </p:sp>
      <p:cxnSp>
        <p:nvCxnSpPr>
          <p:cNvPr id="81" name="Соединитель: изогнутый 80">
            <a:extLst>
              <a:ext uri="{FF2B5EF4-FFF2-40B4-BE49-F238E27FC236}">
                <a16:creationId xmlns:a16="http://schemas.microsoft.com/office/drawing/2014/main" id="{F9CB8EB3-AD80-4105-9A3E-138A05225A83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8534400" y="3794760"/>
            <a:ext cx="1778394" cy="494070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Соединитель: изогнутый 88">
            <a:extLst>
              <a:ext uri="{FF2B5EF4-FFF2-40B4-BE49-F238E27FC236}">
                <a16:creationId xmlns:a16="http://schemas.microsoft.com/office/drawing/2014/main" id="{F74B5D82-9364-419F-BFD2-008E9702F312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8534400" y="5563311"/>
            <a:ext cx="1778394" cy="516256"/>
          </a:xfrm>
          <a:prstGeom prst="curvedConnector2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Прямая со стрелкой 99">
            <a:extLst>
              <a:ext uri="{FF2B5EF4-FFF2-40B4-BE49-F238E27FC236}">
                <a16:creationId xmlns:a16="http://schemas.microsoft.com/office/drawing/2014/main" id="{477B4844-2E72-471C-BB5D-589244C38531}"/>
              </a:ext>
            </a:extLst>
          </p:cNvPr>
          <p:cNvCxnSpPr>
            <a:cxnSpLocks/>
            <a:stCxn id="67" idx="3"/>
            <a:endCxn id="77" idx="1"/>
          </p:cNvCxnSpPr>
          <p:nvPr/>
        </p:nvCxnSpPr>
        <p:spPr>
          <a:xfrm>
            <a:off x="5472601" y="4984807"/>
            <a:ext cx="29722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Овал 107">
            <a:extLst>
              <a:ext uri="{FF2B5EF4-FFF2-40B4-BE49-F238E27FC236}">
                <a16:creationId xmlns:a16="http://schemas.microsoft.com/office/drawing/2014/main" id="{277F7A17-9D58-46D7-89DC-1E0A5B6300D4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17436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273077" y="145340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latin typeface="quote-cjk-patch"/>
              </a:rPr>
              <a:t>Продвижение Продукта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FD08C83F-F94C-4BB6-B261-13F7AA82A84B}"/>
              </a:ext>
            </a:extLst>
          </p:cNvPr>
          <p:cNvSpPr/>
          <p:nvPr/>
        </p:nvSpPr>
        <p:spPr>
          <a:xfrm>
            <a:off x="3488747" y="258264"/>
            <a:ext cx="8141277" cy="541836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accent3">
                    <a:lumMod val="50000"/>
                  </a:schemeClr>
                </a:solidFill>
                <a:latin typeface="quote-cjk-patch"/>
              </a:rPr>
              <a:t>Целевая аудитория</a:t>
            </a:r>
            <a:r>
              <a:rPr lang="ru-RU" b="1" dirty="0">
                <a:solidFill>
                  <a:schemeClr val="bg1"/>
                </a:solidFill>
                <a:latin typeface="quote-cjk-patch"/>
              </a:rPr>
              <a:t>: Крупные и средние промышленные предприятия</a:t>
            </a:r>
            <a:endParaRPr lang="ru-RU" b="1" dirty="0">
              <a:solidFill>
                <a:schemeClr val="bg1"/>
              </a:solidFill>
              <a:effectLst/>
              <a:latin typeface="quote-cjk-patch"/>
            </a:endParaRP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549EAC0-388A-4A5B-9305-79B35051C62C}"/>
              </a:ext>
            </a:extLst>
          </p:cNvPr>
          <p:cNvSpPr/>
          <p:nvPr/>
        </p:nvSpPr>
        <p:spPr>
          <a:xfrm>
            <a:off x="3488746" y="817688"/>
            <a:ext cx="8141277" cy="896812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accent5"/>
                </a:solidFill>
                <a:latin typeface="quote-cjk-patch"/>
              </a:rPr>
              <a:t>Позиционирование на рынке</a:t>
            </a:r>
            <a:r>
              <a:rPr lang="ru-RU" b="1" dirty="0">
                <a:solidFill>
                  <a:schemeClr val="bg1"/>
                </a:solidFill>
                <a:latin typeface="quote-cjk-patch"/>
              </a:rPr>
              <a:t>: Стабильная, безопасная и удобная система, отвечающая за контроль и управление задачами, отличающаяся от остальных подобных ПО на рынке удобным </a:t>
            </a:r>
            <a:r>
              <a:rPr lang="en-US" b="1" dirty="0">
                <a:solidFill>
                  <a:schemeClr val="bg1"/>
                </a:solidFill>
                <a:latin typeface="quote-cjk-patch"/>
              </a:rPr>
              <a:t>UI </a:t>
            </a:r>
            <a:r>
              <a:rPr lang="ru-RU" b="1" dirty="0">
                <a:solidFill>
                  <a:schemeClr val="bg1"/>
                </a:solidFill>
                <a:latin typeface="quote-cjk-patch"/>
              </a:rPr>
              <a:t>и вовлеченностью рабочих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FC4E375A-301C-4C1B-BDC2-C20F347CE16A}"/>
              </a:ext>
            </a:extLst>
          </p:cNvPr>
          <p:cNvSpPr/>
          <p:nvPr/>
        </p:nvSpPr>
        <p:spPr>
          <a:xfrm>
            <a:off x="3488745" y="1732088"/>
            <a:ext cx="2216730" cy="896812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70C0"/>
                </a:solidFill>
                <a:latin typeface="quote-cjk-patch"/>
              </a:rPr>
              <a:t>Маркетинг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D4A543A6-3100-4C01-AEC3-ADECFAF87C51}"/>
              </a:ext>
            </a:extLst>
          </p:cNvPr>
          <p:cNvSpPr/>
          <p:nvPr/>
        </p:nvSpPr>
        <p:spPr>
          <a:xfrm>
            <a:off x="5774744" y="1743074"/>
            <a:ext cx="2673930" cy="896812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400" b="1" dirty="0">
                <a:solidFill>
                  <a:srgbClr val="002060"/>
                </a:solidFill>
                <a:latin typeface="quote-cjk-patch"/>
              </a:rPr>
              <a:t>Корпоративный сайт:</a:t>
            </a:r>
          </a:p>
          <a:p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Демонстрация, реклама, реализованные проекты и </a:t>
            </a:r>
            <a:r>
              <a:rPr lang="ru-RU" sz="1400" b="1" dirty="0" err="1">
                <a:solidFill>
                  <a:schemeClr val="bg1"/>
                </a:solidFill>
                <a:latin typeface="quote-cjk-patch"/>
              </a:rPr>
              <a:t>тп</a:t>
            </a:r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771B5965-088D-4B42-864B-A75D5ED7DB48}"/>
              </a:ext>
            </a:extLst>
          </p:cNvPr>
          <p:cNvSpPr/>
          <p:nvPr/>
        </p:nvSpPr>
        <p:spPr>
          <a:xfrm>
            <a:off x="8517943" y="1743075"/>
            <a:ext cx="3112079" cy="896812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ru-RU" sz="1400" b="1" dirty="0">
                <a:solidFill>
                  <a:srgbClr val="002060"/>
                </a:solidFill>
                <a:latin typeface="quote-cjk-patch"/>
              </a:rPr>
              <a:t>Реклама в соц. сетях:</a:t>
            </a:r>
          </a:p>
          <a:p>
            <a:r>
              <a:rPr lang="ru-RU" sz="1400" b="1" dirty="0" err="1">
                <a:solidFill>
                  <a:schemeClr val="bg1"/>
                </a:solidFill>
                <a:latin typeface="quote-cjk-patch"/>
              </a:rPr>
              <a:t>Вконтакте</a:t>
            </a:r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, </a:t>
            </a:r>
            <a:r>
              <a:rPr lang="ru-RU" sz="1400" b="1" dirty="0" err="1">
                <a:solidFill>
                  <a:schemeClr val="bg1"/>
                </a:solidFill>
                <a:latin typeface="quote-cjk-patch"/>
              </a:rPr>
              <a:t>Телеграм</a:t>
            </a:r>
            <a:r>
              <a:rPr lang="ru-RU" sz="1400" b="1" dirty="0">
                <a:solidFill>
                  <a:schemeClr val="bg1"/>
                </a:solidFill>
                <a:latin typeface="quote-cjk-patch"/>
              </a:rPr>
              <a:t> 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C2F5D22-329D-4446-9A9D-DC83AE369E11}"/>
              </a:ext>
            </a:extLst>
          </p:cNvPr>
          <p:cNvSpPr/>
          <p:nvPr/>
        </p:nvSpPr>
        <p:spPr>
          <a:xfrm>
            <a:off x="3488745" y="2668462"/>
            <a:ext cx="2216730" cy="1179075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2060"/>
                </a:solidFill>
                <a:latin typeface="quote-cjk-patch"/>
              </a:rPr>
              <a:t>Демонстрационное приложение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4E80EDA6-118C-4945-AE72-F072A4F67A13}"/>
              </a:ext>
            </a:extLst>
          </p:cNvPr>
          <p:cNvSpPr/>
          <p:nvPr/>
        </p:nvSpPr>
        <p:spPr>
          <a:xfrm>
            <a:off x="5774744" y="2668461"/>
            <a:ext cx="5855277" cy="1179075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bg1"/>
                </a:solidFill>
                <a:latin typeface="quote-cjk-patch"/>
              </a:rPr>
              <a:t>Приложение, которое смогут опробовать все желающие. Демонстрирующее базовый функционал и примерный вид приложения. Можно скачать с </a:t>
            </a:r>
            <a:r>
              <a:rPr lang="ru-RU" b="1" dirty="0">
                <a:solidFill>
                  <a:srgbClr val="002060"/>
                </a:solidFill>
                <a:latin typeface="quote-cjk-patch"/>
              </a:rPr>
              <a:t>сайта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ACF1BEAD-56E1-4816-A3EC-FCD9FB9AAF78}"/>
              </a:ext>
            </a:extLst>
          </p:cNvPr>
          <p:cNvSpPr/>
          <p:nvPr/>
        </p:nvSpPr>
        <p:spPr>
          <a:xfrm>
            <a:off x="3488745" y="5362685"/>
            <a:ext cx="2216730" cy="1179075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rgbClr val="002060"/>
                </a:solidFill>
                <a:latin typeface="quote-cjk-patch"/>
              </a:rPr>
              <a:t>Предложение внедрения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BFFDBF2-77A6-4EBD-B1D6-9F201E15D90C}"/>
              </a:ext>
            </a:extLst>
          </p:cNvPr>
          <p:cNvSpPr/>
          <p:nvPr/>
        </p:nvSpPr>
        <p:spPr>
          <a:xfrm>
            <a:off x="5774744" y="5362684"/>
            <a:ext cx="5855277" cy="1179075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RU" b="1" dirty="0">
                <a:solidFill>
                  <a:schemeClr val="bg1"/>
                </a:solidFill>
                <a:latin typeface="quote-cjk-patch"/>
              </a:rPr>
              <a:t>Предложить </a:t>
            </a:r>
            <a:r>
              <a:rPr lang="ru-RU" b="1" dirty="0" err="1">
                <a:solidFill>
                  <a:schemeClr val="bg1"/>
                </a:solidFill>
                <a:latin typeface="quote-cjk-patch"/>
              </a:rPr>
              <a:t>Норникелю</a:t>
            </a:r>
            <a:r>
              <a:rPr lang="ru-RU" b="1" dirty="0">
                <a:solidFill>
                  <a:schemeClr val="bg1"/>
                </a:solidFill>
                <a:latin typeface="quote-cjk-patch"/>
              </a:rPr>
              <a:t> внедрить «пилотный» проект на одном из предприятий, разработать обучение для работников и запустить его на тестовой основе.</a:t>
            </a: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9BC05789-6526-406D-AB26-FE59C876BC0A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</a:t>
            </a:r>
          </a:p>
        </p:txBody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8376DD20-7FF0-4C07-AF01-D388534AB465}"/>
              </a:ext>
            </a:extLst>
          </p:cNvPr>
          <p:cNvSpPr/>
          <p:nvPr/>
        </p:nvSpPr>
        <p:spPr>
          <a:xfrm>
            <a:off x="3488746" y="4490784"/>
            <a:ext cx="8141275" cy="228652"/>
          </a:xfrm>
          <a:prstGeom prst="rect">
            <a:avLst/>
          </a:prstGeom>
          <a:solidFill>
            <a:schemeClr val="accent4">
              <a:lumMod val="75000"/>
            </a:schemeClr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7970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sz="1600" b="1" dirty="0">
                <a:solidFill>
                  <a:srgbClr val="F9FAFB"/>
                </a:solidFill>
                <a:latin typeface="quote-cjk-patch"/>
              </a:rPr>
              <a:t>Примерный расчет стоимости и трудозатрат</a:t>
            </a:r>
            <a:endParaRPr lang="ru-RU" sz="1600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34" name="Овал 33">
            <a:extLst>
              <a:ext uri="{FF2B5EF4-FFF2-40B4-BE49-F238E27FC236}">
                <a16:creationId xmlns:a16="http://schemas.microsoft.com/office/drawing/2014/main" id="{9BC05789-6526-406D-AB26-FE59C876BC0A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E2FE436-FE8D-4F9A-B449-DD134291D54A}"/>
              </a:ext>
            </a:extLst>
          </p:cNvPr>
          <p:cNvSpPr/>
          <p:nvPr/>
        </p:nvSpPr>
        <p:spPr>
          <a:xfrm>
            <a:off x="3091308" y="6540366"/>
            <a:ext cx="9100691" cy="317634"/>
          </a:xfrm>
          <a:prstGeom prst="rect">
            <a:avLst/>
          </a:prstGeom>
          <a:solidFill>
            <a:schemeClr val="tx1"/>
          </a:solidFill>
          <a:ln w="44450">
            <a:noFill/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AEF16F1-670F-4CE3-9A94-C961F0D3A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1309" y="0"/>
            <a:ext cx="9100691" cy="654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614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301953" y="53856"/>
            <a:ext cx="8489483" cy="6514470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63500" sx="101000" sy="101000" algn="ctr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C7EC677-E667-43EE-AEBE-810E76EDDF99}"/>
              </a:ext>
            </a:extLst>
          </p:cNvPr>
          <p:cNvSpPr/>
          <p:nvPr/>
        </p:nvSpPr>
        <p:spPr>
          <a:xfrm>
            <a:off x="-154005" y="442762"/>
            <a:ext cx="2560320" cy="749854"/>
          </a:xfrm>
          <a:prstGeom prst="rect">
            <a:avLst/>
          </a:prstGeom>
          <a:solidFill>
            <a:srgbClr val="7030A0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ru-RU" b="1" dirty="0">
                <a:solidFill>
                  <a:srgbClr val="F9FAFB"/>
                </a:solidFill>
                <a:latin typeface="quote-cjk-patch"/>
              </a:rPr>
              <a:t>Заключение</a:t>
            </a:r>
            <a:endParaRPr lang="ru-RU" b="1" dirty="0">
              <a:solidFill>
                <a:srgbClr val="F9FAFB"/>
              </a:solidFill>
              <a:effectLst/>
              <a:latin typeface="quote-cjk-patch"/>
            </a:endParaRPr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5AADFC28-11B3-4FE3-810D-BA980A5841DE}"/>
              </a:ext>
            </a:extLst>
          </p:cNvPr>
          <p:cNvSpPr/>
          <p:nvPr/>
        </p:nvSpPr>
        <p:spPr>
          <a:xfrm>
            <a:off x="2526630" y="639622"/>
            <a:ext cx="356134" cy="35613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6CAEFB5-1444-49E9-AD70-65534620CB9A}"/>
              </a:ext>
            </a:extLst>
          </p:cNvPr>
          <p:cNvSpPr/>
          <p:nvPr/>
        </p:nvSpPr>
        <p:spPr>
          <a:xfrm>
            <a:off x="3666811" y="442761"/>
            <a:ext cx="7768002" cy="2868330"/>
          </a:xfrm>
          <a:prstGeom prst="rect">
            <a:avLst/>
          </a:prstGeom>
          <a:solidFill>
            <a:schemeClr val="tx1"/>
          </a:solidFill>
          <a:ln w="22225">
            <a:solidFill>
              <a:srgbClr val="00206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381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3200" b="1" dirty="0">
                <a:solidFill>
                  <a:schemeClr val="bg1"/>
                </a:solidFill>
                <a:latin typeface="quote-cjk-patch"/>
              </a:rPr>
              <a:t>Итоги</a:t>
            </a:r>
            <a:endParaRPr lang="ru-RU" sz="3600" b="1" dirty="0">
              <a:solidFill>
                <a:schemeClr val="bg1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Изучен рынок подобных приложений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Выявлены недостатки конкурентных решений (и выдвинуты предложения по улучшению их в нашей реализации)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Была разработана концепция системы для оперативного управления задачами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Были изучены средства реализации и коммерциализации продукта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Предложен план продвижения продукта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solidFill>
                  <a:schemeClr val="bg1"/>
                </a:solidFill>
                <a:latin typeface="quote-cjk-patch"/>
              </a:rPr>
              <a:t>Разработан тестовый дизайн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bg1"/>
              </a:solidFill>
              <a:latin typeface="quote-cjk-patch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b="1" dirty="0">
              <a:solidFill>
                <a:schemeClr val="bg1"/>
              </a:solidFill>
              <a:latin typeface="quote-cjk-patch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81D1C2D-83AC-432D-B03A-7474107370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319" y="3387634"/>
            <a:ext cx="5938749" cy="31041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C9672C-FBE1-47C5-9F3E-F8CD6703BDE6}"/>
              </a:ext>
            </a:extLst>
          </p:cNvPr>
          <p:cNvSpPr txBox="1"/>
          <p:nvPr/>
        </p:nvSpPr>
        <p:spPr>
          <a:xfrm>
            <a:off x="2483316" y="626424"/>
            <a:ext cx="44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05709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1D7F283-2823-49B3-9360-6E1FB19BCE30}"/>
              </a:ext>
            </a:extLst>
          </p:cNvPr>
          <p:cNvSpPr/>
          <p:nvPr/>
        </p:nvSpPr>
        <p:spPr>
          <a:xfrm>
            <a:off x="3306275" y="259882"/>
            <a:ext cx="8489483" cy="6189045"/>
          </a:xfrm>
          <a:prstGeom prst="rect">
            <a:avLst/>
          </a:prstGeom>
          <a:solidFill>
            <a:srgbClr val="3366CC"/>
          </a:solidFill>
          <a:ln w="44450">
            <a:solidFill>
              <a:srgbClr val="002060"/>
            </a:solidFill>
            <a:round/>
          </a:ln>
          <a:effectLst>
            <a:outerShdw blurRad="50800" dist="38100" dir="5400000" sx="101000" sy="101000" algn="t" rotWithShape="0">
              <a:prstClr val="black">
                <a:alpha val="40000"/>
              </a:prstClr>
            </a:outerShdw>
            <a:softEdge rad="63500"/>
          </a:effectLst>
          <a:scene3d>
            <a:camera prst="orthographicFront"/>
            <a:lightRig rig="threePt" dir="t"/>
          </a:scene3d>
          <a:sp3d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42FCDE-B8D3-43C3-9FD8-79AF67CA8E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9712" y="557348"/>
            <a:ext cx="8029853" cy="2387600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</a:t>
            </a: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высшего образования Заполярный университет им. Н. М. Федоровского</a:t>
            </a: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b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ru-RU" sz="20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Система оперативного контроля и управления производственными задачами "Twin Task"</a:t>
            </a:r>
            <a:endParaRPr lang="ru-RU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CD5B25F9-6929-4F0C-B352-453C8081A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51016" y="4441734"/>
            <a:ext cx="4013733" cy="16557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Ис-24 Саушкин л. Д.</a:t>
            </a:r>
          </a:p>
          <a:p>
            <a:pPr>
              <a:lnSpc>
                <a:spcPct val="110000"/>
              </a:lnSpc>
            </a:pPr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ис-24 Воскобойников д. р.</a:t>
            </a:r>
          </a:p>
          <a:p>
            <a:pPr>
              <a:lnSpc>
                <a:spcPct val="110000"/>
              </a:lnSpc>
            </a:pPr>
            <a:endParaRPr lang="ru-RU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r>
              <a:rPr lang="ru-RU" b="0" i="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ассистент Костенко Н. В.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Подзаголовок 4">
            <a:extLst>
              <a:ext uri="{FF2B5EF4-FFF2-40B4-BE49-F238E27FC236}">
                <a16:creationId xmlns:a16="http://schemas.microsoft.com/office/drawing/2014/main" id="{A2D4F769-6B2D-4047-BCA6-7ED39F82BEC2}"/>
              </a:ext>
            </a:extLst>
          </p:cNvPr>
          <p:cNvSpPr txBox="1">
            <a:spLocks/>
          </p:cNvSpPr>
          <p:nvPr/>
        </p:nvSpPr>
        <p:spPr>
          <a:xfrm>
            <a:off x="3616692" y="4446222"/>
            <a:ext cx="4013733" cy="1655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Выполнили:</a:t>
            </a:r>
          </a:p>
          <a:p>
            <a:endParaRPr lang="en-US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12466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Контур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Контур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онтур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797</TotalTime>
  <Words>702</Words>
  <Application>Microsoft Office PowerPoint</Application>
  <PresentationFormat>Широкоэкранный</PresentationFormat>
  <Paragraphs>154</Paragraphs>
  <Slides>12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9" baseType="lpstr">
      <vt:lpstr>quote-cjk-patch</vt:lpstr>
      <vt:lpstr>Arial</vt:lpstr>
      <vt:lpstr>Arial Black</vt:lpstr>
      <vt:lpstr>Artifakt Element Black</vt:lpstr>
      <vt:lpstr>Calibri</vt:lpstr>
      <vt:lpstr>Tw Cen MT</vt:lpstr>
      <vt:lpstr>Контур</vt:lpstr>
      <vt:lpstr>федеральное государственное бюджетное образовательное учреждение высшего образования Заполярный университет им. Н. М. Федоровского  Система оперативного контроля и управления производственными задачами "Twin Task"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федеральное государственное бюджетное образовательное учреждение высшего образования Заполярный университет им. Н. М. Федоровского  Система оперативного контроля и управления производственными задачами "Twin Task"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леонид Саушкин</dc:creator>
  <cp:lastModifiedBy>леонид Саушкин</cp:lastModifiedBy>
  <cp:revision>45</cp:revision>
  <dcterms:created xsi:type="dcterms:W3CDTF">2026-01-13T15:41:41Z</dcterms:created>
  <dcterms:modified xsi:type="dcterms:W3CDTF">2026-01-14T04:59:07Z</dcterms:modified>
</cp:coreProperties>
</file>